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3750" y="1322450"/>
            <a:ext cx="8032200" cy="13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/>
              <a:t>Familiarize</a:t>
            </a:r>
            <a:r>
              <a:rPr lang="en" sz="2933"/>
              <a:t> </a:t>
            </a:r>
            <a:r>
              <a:rPr lang="en" sz="2933"/>
              <a:t>yourself</a:t>
            </a:r>
            <a:r>
              <a:rPr lang="en" sz="2933"/>
              <a:t> with phishing attacks</a:t>
            </a:r>
            <a:endParaRPr sz="2933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dirty="0">
                <a:solidFill>
                  <a:srgbClr val="1C3678"/>
                </a:solidFill>
              </a:rPr>
              <a:t>Teams most at risk: HR and Marketing</a:t>
            </a:r>
          </a:p>
        </p:txBody>
      </p:sp>
      <p:sp>
        <p:nvSpPr>
          <p:cNvPr id="301" name="Shape 301"/>
          <p:cNvSpPr/>
          <p:nvPr/>
        </p:nvSpPr>
        <p:spPr>
          <a:xfrm>
            <a:off x="731520" y="3108960"/>
            <a:ext cx="23317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02" name="Shape 302"/>
          <p:cNvSpPr/>
          <p:nvPr/>
        </p:nvSpPr>
        <p:spPr>
          <a:xfrm>
            <a:off x="868680" y="3200400"/>
            <a:ext cx="2057400" cy="5486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dirty="0">
                <a:solidFill>
                  <a:srgbClr val="EB5600"/>
                </a:solidFill>
              </a:rPr>
              <a:t>75%</a:t>
            </a:r>
          </a:p>
        </p:txBody>
      </p:sp>
      <p:sp>
        <p:nvSpPr>
          <p:cNvPr id="303" name="Shape 303"/>
          <p:cNvSpPr/>
          <p:nvPr/>
        </p:nvSpPr>
        <p:spPr>
          <a:xfrm>
            <a:off x="868680" y="3767328"/>
            <a:ext cx="2057400" cy="5943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HR: employees who fell for the simulated attack</a:t>
            </a:r>
          </a:p>
        </p:txBody>
      </p:sp>
      <p:sp>
        <p:nvSpPr>
          <p:cNvPr id="304" name="Shape 304"/>
          <p:cNvSpPr/>
          <p:nvPr/>
        </p:nvSpPr>
        <p:spPr>
          <a:xfrm>
            <a:off x="3246120" y="3108960"/>
            <a:ext cx="23317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05" name="Shape 305"/>
          <p:cNvSpPr/>
          <p:nvPr/>
        </p:nvSpPr>
        <p:spPr>
          <a:xfrm>
            <a:off x="3383280" y="3200400"/>
            <a:ext cx="2057400" cy="5486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dirty="0">
                <a:solidFill>
                  <a:srgbClr val="EB5600"/>
                </a:solidFill>
              </a:rPr>
              <a:t>38%</a:t>
            </a:r>
          </a:p>
        </p:txBody>
      </p:sp>
      <p:sp>
        <p:nvSpPr>
          <p:cNvPr id="306" name="Shape 306"/>
          <p:cNvSpPr/>
          <p:nvPr/>
        </p:nvSpPr>
        <p:spPr>
          <a:xfrm>
            <a:off x="3383280" y="3767328"/>
            <a:ext cx="2057400" cy="5943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Marketing: employees who fell for it</a:t>
            </a:r>
          </a:p>
        </p:txBody>
      </p:sp>
      <p:sp>
        <p:nvSpPr>
          <p:cNvPr id="307" name="Shape 307"/>
          <p:cNvSpPr/>
          <p:nvPr/>
        </p:nvSpPr>
        <p:spPr>
          <a:xfrm>
            <a:off x="5760720" y="3108960"/>
            <a:ext cx="23317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08" name="Shape 308"/>
          <p:cNvSpPr/>
          <p:nvPr/>
        </p:nvSpPr>
        <p:spPr>
          <a:xfrm>
            <a:off x="5897880" y="3200400"/>
            <a:ext cx="2057400" cy="5486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dirty="0">
                <a:solidFill>
                  <a:srgbClr val="1A9988"/>
                </a:solidFill>
              </a:rPr>
              <a:t>18%</a:t>
            </a:r>
          </a:p>
        </p:txBody>
      </p:sp>
      <p:sp>
        <p:nvSpPr>
          <p:cNvPr id="309" name="Shape 309"/>
          <p:cNvSpPr/>
          <p:nvPr/>
        </p:nvSpPr>
        <p:spPr>
          <a:xfrm>
            <a:off x="5897880" y="3767328"/>
            <a:ext cx="2057400" cy="5943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Company average success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1783080"/>
            <a:ext cx="7688700" cy="77724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b="0" i="0" dirty="0">
                <a:solidFill>
                  <a:srgbClr val="1A1A1A"/>
                </a:solidFill>
              </a:rPr>
              <a:t>Phishing is a cyber attack where criminals pretend to be someone you trust, such as IT, a bank or a manager, to trick you into giving away passwords, money or data.</a:t>
            </a:r>
          </a:p>
        </p:txBody>
      </p:sp>
      <p:sp>
        <p:nvSpPr>
          <p:cNvPr id="310" name="Shape 310"/>
          <p:cNvSpPr/>
          <p:nvPr/>
        </p:nvSpPr>
        <p:spPr>
          <a:xfrm>
            <a:off x="731520" y="278892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11" name="Shape 311"/>
          <p:cNvSpPr/>
          <p:nvPr/>
        </p:nvSpPr>
        <p:spPr>
          <a:xfrm>
            <a:off x="868680" y="292608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2" name="Shape 312"/>
          <p:cNvSpPr/>
          <p:nvPr/>
        </p:nvSpPr>
        <p:spPr>
          <a:xfrm>
            <a:off x="1325880" y="292608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Bait</a:t>
            </a:r>
          </a:p>
        </p:txBody>
      </p:sp>
      <p:sp>
        <p:nvSpPr>
          <p:cNvPr id="313" name="Shape 313"/>
          <p:cNvSpPr/>
          <p:nvPr/>
        </p:nvSpPr>
        <p:spPr>
          <a:xfrm>
            <a:off x="868680" y="3401568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The attacker sends a message that looks real and creates urgency.</a:t>
            </a:r>
          </a:p>
        </p:txBody>
      </p:sp>
      <p:sp>
        <p:nvSpPr>
          <p:cNvPr id="314" name="Shape 314"/>
          <p:cNvSpPr/>
          <p:nvPr/>
        </p:nvSpPr>
        <p:spPr>
          <a:xfrm>
            <a:off x="3383280" y="278892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15" name="Shape 315"/>
          <p:cNvSpPr/>
          <p:nvPr/>
        </p:nvSpPr>
        <p:spPr>
          <a:xfrm>
            <a:off x="3520440" y="292608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6" name="Shape 316"/>
          <p:cNvSpPr/>
          <p:nvPr/>
        </p:nvSpPr>
        <p:spPr>
          <a:xfrm>
            <a:off x="3977640" y="292608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Hook</a:t>
            </a:r>
          </a:p>
        </p:txBody>
      </p:sp>
      <p:sp>
        <p:nvSpPr>
          <p:cNvPr id="317" name="Shape 317"/>
          <p:cNvSpPr/>
          <p:nvPr/>
        </p:nvSpPr>
        <p:spPr>
          <a:xfrm>
            <a:off x="3520440" y="3401568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You click a link, open an attachment or reply with details.</a:t>
            </a:r>
          </a:p>
        </p:txBody>
      </p:sp>
      <p:sp>
        <p:nvSpPr>
          <p:cNvPr id="318" name="Shape 318"/>
          <p:cNvSpPr/>
          <p:nvPr/>
        </p:nvSpPr>
        <p:spPr>
          <a:xfrm>
            <a:off x="6035040" y="278892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19" name="Shape 319"/>
          <p:cNvSpPr/>
          <p:nvPr/>
        </p:nvSpPr>
        <p:spPr>
          <a:xfrm>
            <a:off x="6172200" y="2926080"/>
            <a:ext cx="365760" cy="365760"/>
          </a:xfrm>
          <a:prstGeom prst="ellipse">
            <a:avLst/>
          </a:prstGeom>
          <a:solidFill>
            <a:srgbClr val="1A99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0" name="Shape 320"/>
          <p:cNvSpPr/>
          <p:nvPr/>
        </p:nvSpPr>
        <p:spPr>
          <a:xfrm>
            <a:off x="6629400" y="292608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Catch</a:t>
            </a:r>
          </a:p>
        </p:txBody>
      </p:sp>
      <p:sp>
        <p:nvSpPr>
          <p:cNvPr id="321" name="Shape 321"/>
          <p:cNvSpPr/>
          <p:nvPr/>
        </p:nvSpPr>
        <p:spPr>
          <a:xfrm>
            <a:off x="6172200" y="3401568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They steal logins, data or money, or install malware.</a:t>
            </a:r>
          </a:p>
        </p:txBody>
      </p:sp>
      <p:sp>
        <p:nvSpPr>
          <p:cNvPr id="322" name="Shape 322"/>
          <p:cNvSpPr/>
          <p:nvPr/>
        </p:nvSpPr>
        <p:spPr>
          <a:xfrm>
            <a:off x="731520" y="4389120"/>
            <a:ext cx="768096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dirty="0">
                <a:solidFill>
                  <a:srgbClr val="595959"/>
                </a:solidFill>
              </a:rPr>
              <a:t>Anyone can be targeted, especially teams that handle personal data, payments and public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  <p:sp>
        <p:nvSpPr>
          <p:cNvPr id="323" name="Shape 323"/>
          <p:cNvSpPr/>
          <p:nvPr/>
        </p:nvSpPr>
        <p:spPr>
          <a:xfrm>
            <a:off x="731520" y="1965960"/>
            <a:ext cx="3703320" cy="12344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24" name="Shape 324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5" name="Shape 325"/>
          <p:cNvSpPr/>
          <p:nvPr/>
        </p:nvSpPr>
        <p:spPr>
          <a:xfrm>
            <a:off x="1325880" y="2057400"/>
            <a:ext cx="30175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dirty="0">
                <a:solidFill>
                  <a:srgbClr val="1C3678"/>
                </a:solidFill>
              </a:rPr>
              <a:t>Urgency and fear</a:t>
            </a:r>
          </a:p>
        </p:txBody>
      </p:sp>
      <p:sp>
        <p:nvSpPr>
          <p:cNvPr id="326" name="Shape 326"/>
          <p:cNvSpPr/>
          <p:nvPr/>
        </p:nvSpPr>
        <p:spPr>
          <a:xfrm>
            <a:off x="868680" y="2478024"/>
            <a:ext cx="3429000" cy="3291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dirty="0">
                <a:solidFill>
                  <a:srgbClr val="EB5600"/>
                </a:solidFill>
              </a:rPr>
              <a:t>“Reset in 1 hour or be locked out!”</a:t>
            </a:r>
          </a:p>
        </p:txBody>
      </p:sp>
      <p:sp>
        <p:nvSpPr>
          <p:cNvPr id="327" name="Shape 327"/>
          <p:cNvSpPr/>
          <p:nvPr/>
        </p:nvSpPr>
        <p:spPr>
          <a:xfrm>
            <a:off x="868680" y="2843784"/>
            <a:ext cx="3429000" cy="292608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Rushes you into skipping checks.</a:t>
            </a:r>
          </a:p>
        </p:txBody>
      </p:sp>
      <p:sp>
        <p:nvSpPr>
          <p:cNvPr id="328" name="Shape 328"/>
          <p:cNvSpPr/>
          <p:nvPr/>
        </p:nvSpPr>
        <p:spPr>
          <a:xfrm>
            <a:off x="4709160" y="1965960"/>
            <a:ext cx="3703320" cy="12344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29" name="Shape 329"/>
          <p:cNvSpPr/>
          <p:nvPr/>
        </p:nvSpPr>
        <p:spPr>
          <a:xfrm>
            <a:off x="4846320" y="205740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0" name="Shape 330"/>
          <p:cNvSpPr/>
          <p:nvPr/>
        </p:nvSpPr>
        <p:spPr>
          <a:xfrm>
            <a:off x="5303520" y="2057400"/>
            <a:ext cx="30175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dirty="0">
                <a:solidFill>
                  <a:srgbClr val="1C3678"/>
                </a:solidFill>
              </a:rPr>
              <a:t>Fake sender</a:t>
            </a:r>
          </a:p>
        </p:txBody>
      </p:sp>
      <p:sp>
        <p:nvSpPr>
          <p:cNvPr id="331" name="Shape 331"/>
          <p:cNvSpPr/>
          <p:nvPr/>
        </p:nvSpPr>
        <p:spPr>
          <a:xfrm>
            <a:off x="4846320" y="2478024"/>
            <a:ext cx="3429000" cy="3291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dirty="0">
                <a:solidFill>
                  <a:srgbClr val="EB5600"/>
                </a:solidFill>
              </a:rPr>
              <a:t>mastercardsIT@gmail.com</a:t>
            </a:r>
          </a:p>
        </p:txBody>
      </p:sp>
      <p:sp>
        <p:nvSpPr>
          <p:cNvPr id="332" name="Shape 332"/>
          <p:cNvSpPr/>
          <p:nvPr/>
        </p:nvSpPr>
        <p:spPr>
          <a:xfrm>
            <a:off x="4846320" y="2843784"/>
            <a:ext cx="3429000" cy="292608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A free email address posing as IT.</a:t>
            </a:r>
          </a:p>
        </p:txBody>
      </p:sp>
      <p:sp>
        <p:nvSpPr>
          <p:cNvPr id="333" name="Shape 333"/>
          <p:cNvSpPr/>
          <p:nvPr/>
        </p:nvSpPr>
        <p:spPr>
          <a:xfrm>
            <a:off x="731520" y="3337560"/>
            <a:ext cx="3703320" cy="12344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34" name="Shape 334"/>
          <p:cNvSpPr/>
          <p:nvPr/>
        </p:nvSpPr>
        <p:spPr>
          <a:xfrm>
            <a:off x="868680" y="342900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5" name="Shape 335"/>
          <p:cNvSpPr/>
          <p:nvPr/>
        </p:nvSpPr>
        <p:spPr>
          <a:xfrm>
            <a:off x="1325880" y="3429000"/>
            <a:ext cx="30175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dirty="0">
                <a:solidFill>
                  <a:srgbClr val="1C3678"/>
                </a:solidFill>
              </a:rPr>
              <a:t>Disguised links</a:t>
            </a:r>
          </a:p>
        </p:txBody>
      </p:sp>
      <p:sp>
        <p:nvSpPr>
          <p:cNvPr id="336" name="Shape 336"/>
          <p:cNvSpPr/>
          <p:nvPr/>
        </p:nvSpPr>
        <p:spPr>
          <a:xfrm>
            <a:off x="868680" y="3849624"/>
            <a:ext cx="3429000" cy="3291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dirty="0">
                <a:solidFill>
                  <a:srgbClr val="EB5600"/>
                </a:solidFill>
              </a:rPr>
              <a:t>“Click here to reset your password”</a:t>
            </a:r>
          </a:p>
        </p:txBody>
      </p:sp>
      <p:sp>
        <p:nvSpPr>
          <p:cNvPr id="337" name="Shape 337"/>
          <p:cNvSpPr/>
          <p:nvPr/>
        </p:nvSpPr>
        <p:spPr>
          <a:xfrm>
            <a:off x="868680" y="4215384"/>
            <a:ext cx="3429000" cy="292608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Hover first: the real URL is hidden.</a:t>
            </a:r>
          </a:p>
        </p:txBody>
      </p:sp>
      <p:sp>
        <p:nvSpPr>
          <p:cNvPr id="338" name="Shape 338"/>
          <p:cNvSpPr/>
          <p:nvPr/>
        </p:nvSpPr>
        <p:spPr>
          <a:xfrm>
            <a:off x="4709160" y="3337560"/>
            <a:ext cx="3703320" cy="12344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39" name="Shape 339"/>
          <p:cNvSpPr/>
          <p:nvPr/>
        </p:nvSpPr>
        <p:spPr>
          <a:xfrm>
            <a:off x="4846320" y="342900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0" name="Shape 340"/>
          <p:cNvSpPr/>
          <p:nvPr/>
        </p:nvSpPr>
        <p:spPr>
          <a:xfrm>
            <a:off x="5303520" y="3429000"/>
            <a:ext cx="30175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dirty="0">
                <a:solidFill>
                  <a:srgbClr val="1C3678"/>
                </a:solidFill>
              </a:rPr>
              <a:t>Generic greeting</a:t>
            </a:r>
          </a:p>
        </p:txBody>
      </p:sp>
      <p:sp>
        <p:nvSpPr>
          <p:cNvPr id="341" name="Shape 341"/>
          <p:cNvSpPr/>
          <p:nvPr/>
        </p:nvSpPr>
        <p:spPr>
          <a:xfrm>
            <a:off x="4846320" y="3849624"/>
            <a:ext cx="3429000" cy="3291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dirty="0">
                <a:solidFill>
                  <a:srgbClr val="EB5600"/>
                </a:solidFill>
              </a:rPr>
              <a:t>“Hello (insert name),”</a:t>
            </a:r>
          </a:p>
        </p:txBody>
      </p:sp>
      <p:sp>
        <p:nvSpPr>
          <p:cNvPr id="342" name="Shape 342"/>
          <p:cNvSpPr/>
          <p:nvPr/>
        </p:nvSpPr>
        <p:spPr>
          <a:xfrm>
            <a:off x="4846320" y="4215384"/>
            <a:ext cx="3429000" cy="292608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Mass-sent, so no personal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343" name="Shape 343"/>
          <p:cNvSpPr/>
          <p:nvPr/>
        </p:nvSpPr>
        <p:spPr>
          <a:xfrm>
            <a:off x="731520" y="196596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44" name="Shape 344"/>
          <p:cNvSpPr/>
          <p:nvPr/>
        </p:nvSpPr>
        <p:spPr>
          <a:xfrm>
            <a:off x="868680" y="210312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5" name="Shape 345"/>
          <p:cNvSpPr/>
          <p:nvPr/>
        </p:nvSpPr>
        <p:spPr>
          <a:xfrm>
            <a:off x="1325880" y="210312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Stop</a:t>
            </a:r>
          </a:p>
        </p:txBody>
      </p:sp>
      <p:sp>
        <p:nvSpPr>
          <p:cNvPr id="346" name="Shape 346"/>
          <p:cNvSpPr/>
          <p:nvPr/>
        </p:nvSpPr>
        <p:spPr>
          <a:xfrm>
            <a:off x="868680" y="2606040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Pause when an email feels urgent or scary. Pressure is the trap.</a:t>
            </a:r>
          </a:p>
        </p:txBody>
      </p:sp>
      <p:sp>
        <p:nvSpPr>
          <p:cNvPr id="347" name="Shape 347"/>
          <p:cNvSpPr/>
          <p:nvPr/>
        </p:nvSpPr>
        <p:spPr>
          <a:xfrm>
            <a:off x="3383280" y="196596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48" name="Shape 348"/>
          <p:cNvSpPr/>
          <p:nvPr/>
        </p:nvSpPr>
        <p:spPr>
          <a:xfrm>
            <a:off x="3520440" y="2103120"/>
            <a:ext cx="365760" cy="365760"/>
          </a:xfrm>
          <a:prstGeom prst="ellipse">
            <a:avLst/>
          </a:prstGeom>
          <a:solidFill>
            <a:srgbClr val="EB56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9" name="Shape 349"/>
          <p:cNvSpPr/>
          <p:nvPr/>
        </p:nvSpPr>
        <p:spPr>
          <a:xfrm>
            <a:off x="3977640" y="210312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Look</a:t>
            </a:r>
          </a:p>
        </p:txBody>
      </p:sp>
      <p:sp>
        <p:nvSpPr>
          <p:cNvPr id="350" name="Shape 350"/>
          <p:cNvSpPr/>
          <p:nvPr/>
        </p:nvSpPr>
        <p:spPr>
          <a:xfrm>
            <a:off x="3520440" y="2606040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Check the sender address, hover over links and question the unexpected.</a:t>
            </a:r>
          </a:p>
        </p:txBody>
      </p:sp>
      <p:sp>
        <p:nvSpPr>
          <p:cNvPr id="351" name="Shape 351"/>
          <p:cNvSpPr/>
          <p:nvPr/>
        </p:nvSpPr>
        <p:spPr>
          <a:xfrm>
            <a:off x="6035040" y="1965960"/>
            <a:ext cx="2377440" cy="1463040"/>
          </a:xfrm>
          <a:prstGeom prst="roundRect">
            <a:avLst>
              <a:gd name="adj" fmla="val 7000"/>
            </a:avLst>
          </a:prstGeom>
          <a:solidFill>
            <a:srgbClr val="F1F4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"/>
          </a:p>
        </p:txBody>
      </p:sp>
      <p:sp>
        <p:nvSpPr>
          <p:cNvPr id="352" name="Shape 352"/>
          <p:cNvSpPr/>
          <p:nvPr/>
        </p:nvSpPr>
        <p:spPr>
          <a:xfrm>
            <a:off x="6172200" y="2103120"/>
            <a:ext cx="365760" cy="365760"/>
          </a:xfrm>
          <a:prstGeom prst="ellipse">
            <a:avLst/>
          </a:prstGeom>
          <a:solidFill>
            <a:srgbClr val="1A99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3" name="Shape 353"/>
          <p:cNvSpPr/>
          <p:nvPr/>
        </p:nvSpPr>
        <p:spPr>
          <a:xfrm>
            <a:off x="6629400" y="2103120"/>
            <a:ext cx="1645920" cy="36576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dirty="0">
                <a:solidFill>
                  <a:srgbClr val="1C3678"/>
                </a:solidFill>
              </a:rPr>
              <a:t>Report</a:t>
            </a:r>
          </a:p>
        </p:txBody>
      </p:sp>
      <p:sp>
        <p:nvSpPr>
          <p:cNvPr id="354" name="Shape 354"/>
          <p:cNvSpPr/>
          <p:nvPr/>
        </p:nvSpPr>
        <p:spPr>
          <a:xfrm>
            <a:off x="6172200" y="2606040"/>
            <a:ext cx="2103120" cy="77724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dirty="0">
                <a:solidFill>
                  <a:srgbClr val="1A1A1A"/>
                </a:solidFill>
              </a:rPr>
              <a:t>Send it to IT Security. Report even if you clicked, as speed limits the damage.</a:t>
            </a:r>
          </a:p>
        </p:txBody>
      </p:sp>
      <p:sp>
        <p:nvSpPr>
          <p:cNvPr id="355" name="Shape 355"/>
          <p:cNvSpPr/>
          <p:nvPr/>
        </p:nvSpPr>
        <p:spPr>
          <a:xfrm>
            <a:off x="731520" y="3611880"/>
            <a:ext cx="3703320" cy="868680"/>
          </a:xfrm>
          <a:prstGeom prst="roundRect">
            <a:avLst>
              <a:gd name="adj" fmla="val 7000"/>
            </a:avLst>
          </a:prstGeom>
          <a:solidFill>
            <a:srgbClr val="1C3678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dirty="0">
                <a:solidFill>
                  <a:srgbClr val="FFFFFF"/>
                </a:solidFill>
              </a:rPr>
              <a:t>HR: </a:t>
            </a:r>
            <a:r>
              <a:rPr lang="en" sz="1200" b="0" i="0" dirty="0">
                <a:solidFill>
                  <a:srgbClr val="FFFFFF"/>
                </a:solidFill>
              </a:rPr>
              <a:t>Confirm any payroll, bank or employee-record request by phone before acting.</a:t>
            </a:r>
          </a:p>
        </p:txBody>
      </p:sp>
      <p:sp>
        <p:nvSpPr>
          <p:cNvPr id="356" name="Shape 356"/>
          <p:cNvSpPr/>
          <p:nvPr/>
        </p:nvSpPr>
        <p:spPr>
          <a:xfrm>
            <a:off x="4709160" y="3611880"/>
            <a:ext cx="3703320" cy="868680"/>
          </a:xfrm>
          <a:prstGeom prst="roundRect">
            <a:avLst>
              <a:gd name="adj" fmla="val 7000"/>
            </a:avLst>
          </a:prstGeom>
          <a:solidFill>
            <a:srgbClr val="1C3678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dirty="0">
                <a:solidFill>
                  <a:srgbClr val="FFFFFF"/>
                </a:solidFill>
              </a:rPr>
              <a:t>Marketing: </a:t>
            </a:r>
            <a:r>
              <a:rPr lang="en" sz="1200" b="0" i="0" dirty="0">
                <a:solidFill>
                  <a:srgbClr val="FFFFFF"/>
                </a:solidFill>
              </a:rPr>
              <a:t>Turn on multi-factor sign-in for social and ad accounts. Never log in from an email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